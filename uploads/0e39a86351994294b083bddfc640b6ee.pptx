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1" r:id="rId15"/>
    <p:sldId id="270" r:id="rId16"/>
    <p:sldId id="272" r:id="rId17"/>
    <p:sldId id="267" r:id="rId18"/>
  </p:sldIdLst>
  <p:sldSz cx="18288000" cy="10287000"/>
  <p:notesSz cx="6858000" cy="9144000"/>
  <p:embeddedFontLst>
    <p:embeddedFont>
      <p:font typeface="Agrandir Wide Bold" panose="020B0604020202020204" charset="0"/>
      <p:regular r:id="rId19"/>
    </p:embeddedFont>
    <p:embeddedFont>
      <p:font typeface="Nunito" pitchFamily="2" charset="0"/>
      <p:regular r:id="rId20"/>
      <p:bold r:id="rId21"/>
      <p:italic r:id="rId22"/>
      <p:boldItalic r:id="rId23"/>
    </p:embeddedFont>
    <p:embeddedFont>
      <p:font typeface="Nunito Bold" charset="0"/>
      <p:regular r:id="rId24"/>
    </p:embeddedFont>
    <p:embeddedFont>
      <p:font typeface="Nunito Bold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19" y="6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857705"/>
            <a:ext cx="129159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9600" dirty="0"/>
              <a:t>Prismo Constructions </a:t>
            </a:r>
            <a:endParaRPr lang="en-US" sz="10343" b="1" dirty="0">
              <a:solidFill>
                <a:srgbClr val="303870"/>
              </a:solidFill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962025"/>
            <a:ext cx="139065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/>
              <a:t>Network Security Assessment and Secure Network Design </a:t>
            </a:r>
            <a:endParaRPr lang="en-US" sz="324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8699209"/>
            <a:ext cx="139065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/>
              <a:t>Module: IE3101 – Enterprise Network and Information Systems Security Year 3 Semester 1 | 2026 </a:t>
            </a:r>
            <a:endParaRPr lang="en-US" sz="3243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811D57A-15CB-1669-B400-E7E55FA96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923451"/>
              </p:ext>
            </p:extLst>
          </p:nvPr>
        </p:nvGraphicFramePr>
        <p:xfrm>
          <a:off x="2514600" y="4686300"/>
          <a:ext cx="9563100" cy="302249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781550">
                  <a:extLst>
                    <a:ext uri="{9D8B030D-6E8A-4147-A177-3AD203B41FA5}">
                      <a16:colId xmlns:a16="http://schemas.microsoft.com/office/drawing/2014/main" val="1048460144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362441486"/>
                    </a:ext>
                  </a:extLst>
                </a:gridCol>
              </a:tblGrid>
              <a:tr h="7356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746760" algn="l"/>
                        </a:tabLst>
                      </a:pPr>
                      <a:r>
                        <a:rPr lang="en-US" sz="3200" kern="100" dirty="0">
                          <a:effectLst/>
                        </a:rPr>
                        <a:t>IT24103929 </a:t>
                      </a:r>
                      <a:endParaRPr lang="en-US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 Unicode M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746760" algn="l"/>
                        </a:tabLst>
                      </a:pPr>
                      <a:r>
                        <a:rPr lang="en-US" sz="3200" kern="100">
                          <a:effectLst/>
                        </a:rPr>
                        <a:t>Wijerathne W.A.D.C. L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 Unicode M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736055"/>
                  </a:ext>
                </a:extLst>
              </a:tr>
              <a:tr h="75018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746760" algn="l"/>
                        </a:tabLst>
                      </a:pPr>
                      <a:r>
                        <a:rPr lang="en-US" sz="3200" kern="100" dirty="0">
                          <a:effectLst/>
                        </a:rPr>
                        <a:t>IT24103951</a:t>
                      </a:r>
                      <a:endParaRPr lang="en-US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 Unicode M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746760" algn="l"/>
                        </a:tabLst>
                      </a:pPr>
                      <a:r>
                        <a:rPr lang="pl-PL" sz="3200" kern="100" dirty="0">
                          <a:effectLst/>
                        </a:rPr>
                        <a:t>Rathnayaka R.M.D. D</a:t>
                      </a:r>
                      <a:endParaRPr lang="en-US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 Unicode M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7745958"/>
                  </a:ext>
                </a:extLst>
              </a:tr>
              <a:tr h="7628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746760" algn="l"/>
                        </a:tabLst>
                      </a:pPr>
                      <a:r>
                        <a:rPr lang="en-US" sz="3200" kern="100">
                          <a:effectLst/>
                        </a:rPr>
                        <a:t>IT24103657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 Unicode M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746760" algn="l"/>
                        </a:tabLst>
                      </a:pPr>
                      <a:r>
                        <a:rPr lang="pl-PL" sz="3200" kern="100" dirty="0">
                          <a:effectLst/>
                        </a:rPr>
                        <a:t>Sathsarani W.A.N. P</a:t>
                      </a:r>
                      <a:endParaRPr lang="en-US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 Unicode M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0713476"/>
                  </a:ext>
                </a:extLst>
              </a:tr>
              <a:tr h="7737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746760" algn="l"/>
                        </a:tabLst>
                      </a:pPr>
                      <a:r>
                        <a:rPr lang="en-US" sz="3200" kern="100">
                          <a:effectLst/>
                        </a:rPr>
                        <a:t>IT24201063</a:t>
                      </a:r>
                      <a:endParaRPr lang="en-US" sz="3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 Unicode M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746760" algn="l"/>
                        </a:tabLst>
                      </a:pPr>
                      <a:r>
                        <a:rPr lang="en-US" sz="3200" kern="100" dirty="0">
                          <a:effectLst/>
                        </a:rPr>
                        <a:t>Sandothma H.B. D</a:t>
                      </a:r>
                      <a:endParaRPr lang="en-US" sz="3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 Unicode M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20582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375895"/>
            <a:ext cx="10422463" cy="136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OUR CONTENTS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06A5AC-80BE-4FF7-63A2-C4703E6AA0B8}"/>
              </a:ext>
            </a:extLst>
          </p:cNvPr>
          <p:cNvSpPr txBox="1"/>
          <p:nvPr/>
        </p:nvSpPr>
        <p:spPr>
          <a:xfrm>
            <a:off x="5257800" y="3155683"/>
            <a:ext cx="88011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sz="3200" dirty="0"/>
              <a:t>Client Context &amp; Option Selection 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sz="3200" dirty="0"/>
              <a:t>Current Baseline Network 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sz="3200" dirty="0"/>
              <a:t>Network Requirements &amp; Critical Assets 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sz="3200" dirty="0"/>
              <a:t>Vulnerability Identification  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sz="3200" dirty="0"/>
              <a:t>Risk Assessment &amp; Prioritization 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sz="3200" dirty="0"/>
              <a:t>ISO/IEC 27001 Alignment &amp; Toolkit Application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sz="3200" dirty="0"/>
              <a:t>To-Be Secure Network Architecture 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sz="3200" dirty="0"/>
              <a:t>Prioritized Recommendations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sz="3200" dirty="0"/>
              <a:t>Conclusion &amp; Key Takeaways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104900"/>
            <a:ext cx="7561002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8000" dirty="0"/>
              <a:t>Client Context</a:t>
            </a:r>
            <a:endParaRPr lang="en-US" sz="7872" b="1" dirty="0">
              <a:solidFill>
                <a:srgbClr val="303870"/>
              </a:solidFill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3532389"/>
            <a:ext cx="135255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Construction consultancy company in Sri Lanka </a:t>
            </a:r>
          </a:p>
          <a:p>
            <a:pPr marL="342900" indent="-342900" algn="just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Expanding from consultancy into construction management </a:t>
            </a:r>
          </a:p>
          <a:p>
            <a:pPr marL="342900" indent="-342900" algn="just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Currently operates with limited IT infrastructure </a:t>
            </a:r>
          </a:p>
          <a:p>
            <a:pPr marL="342900" indent="-342900" algn="just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Heavy reliance on email, WhatsApp, and manual processes</a:t>
            </a:r>
          </a:p>
          <a:p>
            <a:pPr marL="342900" indent="-342900" algn="just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Introducing Prismo Constructions  – a web-based project management platform (React + Spring Boot) </a:t>
            </a:r>
            <a:endParaRPr lang="en-US" sz="21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628900"/>
            <a:ext cx="7561002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dirty="0"/>
              <a:t>Prismo Constructions (PVT) Ltd </a:t>
            </a:r>
            <a:endParaRPr lang="en-US" sz="3230" b="1" i="1" dirty="0">
              <a:solidFill>
                <a:srgbClr val="303870"/>
              </a:solidFill>
              <a:latin typeface="Nunito Bold Italics"/>
              <a:ea typeface="Nunito Bold Italics"/>
              <a:cs typeface="Nunito Bold Italics"/>
              <a:sym typeface="Nunito Bold Itali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41012F-C029-D1C0-3F9E-EB66E7208698}"/>
              </a:ext>
            </a:extLst>
          </p:cNvPr>
          <p:cNvSpPr txBox="1"/>
          <p:nvPr/>
        </p:nvSpPr>
        <p:spPr>
          <a:xfrm>
            <a:off x="1028700" y="7048500"/>
            <a:ext cx="81052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CEO 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Project Manager 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Site Engineers 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Administrative Officer 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External Clients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749CD2-2FB1-5FCA-48A9-EAE2CBE6B04A}"/>
              </a:ext>
            </a:extLst>
          </p:cNvPr>
          <p:cNvSpPr txBox="1"/>
          <p:nvPr/>
        </p:nvSpPr>
        <p:spPr>
          <a:xfrm>
            <a:off x="882316" y="6308000"/>
            <a:ext cx="4174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Key Users: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24665" y="1181100"/>
            <a:ext cx="980996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/>
              <a:t>Why Option B? </a:t>
            </a:r>
            <a:endParaRPr lang="en-US" sz="7872" b="1" dirty="0">
              <a:solidFill>
                <a:srgbClr val="303870"/>
              </a:solidFill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962400" y="4411987"/>
            <a:ext cx="1095296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/>
              <a:t>Justification: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Current network is very limited (basic internet + individual laptops)</a:t>
            </a:r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 centralized servers, no structured remote access, no segmentation </a:t>
            </a:r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Organization is expanding operations and introducing a new critical system </a:t>
            </a:r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Need to design a secure network before full implementation</a:t>
            </a:r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 Supports security-by-design approach </a:t>
            </a:r>
            <a:endParaRPr lang="en-US" sz="21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06BFB-CEBE-32E0-77F6-846B17E11DE3}"/>
              </a:ext>
            </a:extLst>
          </p:cNvPr>
          <p:cNvSpPr txBox="1"/>
          <p:nvPr/>
        </p:nvSpPr>
        <p:spPr>
          <a:xfrm>
            <a:off x="5033131" y="3119709"/>
            <a:ext cx="82217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Selected Option: B – New / Expanded Network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066650"/>
            <a:ext cx="139827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0" dirty="0"/>
              <a:t>Current Baseline Network (As-Is) </a:t>
            </a:r>
            <a:endParaRPr lang="en-US" sz="7872" b="1" dirty="0">
              <a:solidFill>
                <a:srgbClr val="303870"/>
              </a:solidFill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743450" y="3721064"/>
            <a:ext cx="9189118" cy="3508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Individual laptops connected to basic internet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Marketing website only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 internal servers for applications or databases 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 firewall or network segmentation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Communication via email and WhatsApp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Progress photos and documents shared informally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Weak or no centralized authentication </a:t>
            </a:r>
            <a:endParaRPr lang="en-US" sz="21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76895" y="8068733"/>
            <a:ext cx="10789318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Unable to securely support multi-user project management with remote Site Engineers and external Clients. </a:t>
            </a:r>
            <a:endParaRPr lang="en-US" sz="21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2792243"/>
            <a:ext cx="74295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/>
              <a:t>Current Environment Characteristics: </a:t>
            </a:r>
            <a:endParaRPr lang="en-US" sz="3230" b="1" dirty="0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7604541"/>
            <a:ext cx="5716122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dirty="0"/>
              <a:t>Major Limitation: </a:t>
            </a:r>
            <a:endParaRPr lang="en-US" sz="3230" b="1" dirty="0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028700"/>
            <a:ext cx="127635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0" dirty="0"/>
              <a:t>Network Requirements </a:t>
            </a:r>
            <a:endParaRPr lang="en-US" sz="7872" b="1" dirty="0">
              <a:solidFill>
                <a:srgbClr val="303870"/>
              </a:solidFill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800600" y="4152900"/>
            <a:ext cx="7761937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Secure access for Office staff, Site Engineers, and Clients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Centralized storage of project data, progress logs, and photographs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Role-based access control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Encrypted remote access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Protection of confidential project and client information 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Reasonable availability during working hours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Scalable for future growth</a:t>
            </a:r>
            <a:endParaRPr lang="en-US" sz="21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6FD90B-C1D9-3AC4-7A7A-1A7E4514D42A}"/>
              </a:ext>
            </a:extLst>
          </p:cNvPr>
          <p:cNvSpPr txBox="1"/>
          <p:nvPr/>
        </p:nvSpPr>
        <p:spPr>
          <a:xfrm>
            <a:off x="1028700" y="3238500"/>
            <a:ext cx="6830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Key Requirements for Prismo Constructions: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319212"/>
            <a:ext cx="811530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8000" dirty="0"/>
              <a:t>Critical Assets </a:t>
            </a:r>
            <a:endParaRPr lang="en-US" sz="7872" b="1" dirty="0">
              <a:solidFill>
                <a:srgbClr val="303870"/>
              </a:solidFill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2975840"/>
            <a:ext cx="6305628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b="1" dirty="0"/>
              <a:t>Most Important Assets: </a:t>
            </a:r>
            <a:endParaRPr lang="en-US" sz="3230" b="1" dirty="0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A007B0A-9401-1539-3549-0C0B325B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44665"/>
              </p:ext>
            </p:extLst>
          </p:nvPr>
        </p:nvGraphicFramePr>
        <p:xfrm>
          <a:off x="2971800" y="3955360"/>
          <a:ext cx="11887200" cy="531027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829300">
                  <a:extLst>
                    <a:ext uri="{9D8B030D-6E8A-4147-A177-3AD203B41FA5}">
                      <a16:colId xmlns:a16="http://schemas.microsoft.com/office/drawing/2014/main" val="1743416638"/>
                    </a:ext>
                  </a:extLst>
                </a:gridCol>
                <a:gridCol w="6057900">
                  <a:extLst>
                    <a:ext uri="{9D8B030D-6E8A-4147-A177-3AD203B41FA5}">
                      <a16:colId xmlns:a16="http://schemas.microsoft.com/office/drawing/2014/main" val="1106722698"/>
                    </a:ext>
                  </a:extLst>
                </a:gridCol>
              </a:tblGrid>
              <a:tr h="6547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Sensitivity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082108"/>
                  </a:ext>
                </a:extLst>
              </a:tr>
              <a:tr h="638950">
                <a:tc>
                  <a:txBody>
                    <a:bodyPr/>
                    <a:lstStyle/>
                    <a:p>
                      <a:pPr algn="ctr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Prismo Constructions </a:t>
                      </a:r>
                      <a:r>
                        <a:rPr lang="en-US" sz="2800" dirty="0"/>
                        <a:t>Application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205389"/>
                  </a:ext>
                </a:extLst>
              </a:tr>
              <a:tr h="6694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Project Database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318607"/>
                  </a:ext>
                </a:extLst>
              </a:tr>
              <a:tr h="6694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Progress Photographs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250654"/>
                  </a:ext>
                </a:extLst>
              </a:tr>
              <a:tr h="6694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Client Documents &amp; Contracts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568781"/>
                  </a:ext>
                </a:extLst>
              </a:tr>
              <a:tr h="6694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User Credentials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735441"/>
                  </a:ext>
                </a:extLst>
              </a:tr>
              <a:tr h="6694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Approval Records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548969"/>
                  </a:ext>
                </a:extLst>
              </a:tr>
              <a:tr h="6694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Office &amp; Field Laptops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Medium-High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2122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939013" y="987223"/>
            <a:ext cx="1240997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/>
              <a:t>Key Vulnerabilities Identified </a:t>
            </a:r>
            <a:endParaRPr lang="en-US" sz="7872" b="1" dirty="0">
              <a:solidFill>
                <a:srgbClr val="303870"/>
              </a:solidFill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CA2664-733C-42E0-B84E-055BC9E865F8}"/>
              </a:ext>
            </a:extLst>
          </p:cNvPr>
          <p:cNvSpPr txBox="1"/>
          <p:nvPr/>
        </p:nvSpPr>
        <p:spPr>
          <a:xfrm>
            <a:off x="1275347" y="3296653"/>
            <a:ext cx="67245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Major Vulnerabilities (Client-Specific):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41F420-A49A-1FC0-9955-13298319AE78}"/>
              </a:ext>
            </a:extLst>
          </p:cNvPr>
          <p:cNvSpPr txBox="1"/>
          <p:nvPr/>
        </p:nvSpPr>
        <p:spPr>
          <a:xfrm>
            <a:off x="3581400" y="4762500"/>
            <a:ext cx="1333499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Weak authentication and absence of MFA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No Role-Based Access Control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Insecure sharing of progress photos and documents (WhatsApp/Email)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Weak remote access controls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Lack of network segmentation and firewall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Limited endpoint protection on field devices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No centralized logging or monitoring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Inadequate backup procedures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423636"/>
            <a:ext cx="157353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0" dirty="0"/>
              <a:t>Risk Assessment Summary </a:t>
            </a:r>
            <a:endParaRPr lang="en-US" sz="7872" b="1" dirty="0">
              <a:solidFill>
                <a:srgbClr val="303870"/>
              </a:solidFill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3283484"/>
            <a:ext cx="4446588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dirty="0"/>
              <a:t>Top Critical / High Risks: </a:t>
            </a:r>
            <a:endParaRPr lang="en-US" sz="3230" b="1" dirty="0">
              <a:solidFill>
                <a:srgbClr val="303870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63D3A6B-A484-1842-74E9-44E51399C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192106"/>
              </p:ext>
            </p:extLst>
          </p:nvPr>
        </p:nvGraphicFramePr>
        <p:xfrm>
          <a:off x="2286000" y="4686300"/>
          <a:ext cx="12192000" cy="2595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4486776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0732656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09891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Risk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Risk 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027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R01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 authentication / No MFA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Critical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77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R02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Insufficient Role-Based Access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Critical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467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R03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Insecure document &amp; photo handling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Critical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36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 remote access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592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firewall &amp; no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869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Lost/stolen devices with weak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9120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217773"/>
            <a:ext cx="145161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0" dirty="0"/>
              <a:t>ISO/IEC 27001 Toolkit Application </a:t>
            </a:r>
            <a:endParaRPr lang="en-US" sz="7872" b="1" dirty="0">
              <a:solidFill>
                <a:srgbClr val="303870"/>
              </a:solidFill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804749" y="4031913"/>
            <a:ext cx="8678502" cy="2985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Asset Register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Risk Register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Statement of Applicability (</a:t>
            </a:r>
            <a:r>
              <a:rPr lang="en-US" sz="2400" dirty="0" err="1"/>
              <a:t>SoA</a:t>
            </a:r>
            <a:r>
              <a:rPr lang="en-US" sz="2400" dirty="0"/>
              <a:t>)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Information Classification Matrix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RASCI Table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ISMS &amp; Controls Status (Gap Analysis) </a:t>
            </a:r>
            <a:endParaRPr lang="en-US" sz="21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C3E7C0-1F30-7FDA-2859-49D25A1B513A}"/>
              </a:ext>
            </a:extLst>
          </p:cNvPr>
          <p:cNvSpPr txBox="1"/>
          <p:nvPr/>
        </p:nvSpPr>
        <p:spPr>
          <a:xfrm>
            <a:off x="1031631" y="2954215"/>
            <a:ext cx="42024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Toolkit Materials Used: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CF833-704E-636E-2E44-84B143DA5A15}"/>
              </a:ext>
            </a:extLst>
          </p:cNvPr>
          <p:cNvSpPr txBox="1"/>
          <p:nvPr/>
        </p:nvSpPr>
        <p:spPr>
          <a:xfrm>
            <a:off x="1028700" y="7200900"/>
            <a:ext cx="19413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Approach: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EEC1D8-4DBB-96B3-9B0E-91D16F7AA3BC}"/>
              </a:ext>
            </a:extLst>
          </p:cNvPr>
          <p:cNvSpPr txBox="1"/>
          <p:nvPr/>
        </p:nvSpPr>
        <p:spPr>
          <a:xfrm>
            <a:off x="3657697" y="7785675"/>
            <a:ext cx="944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toolkit to the proposed network environment (Option B) to support security-by-design.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028700"/>
            <a:ext cx="131445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0" dirty="0"/>
              <a:t>Key Selected Controls (</a:t>
            </a:r>
            <a:r>
              <a:rPr lang="en-US" sz="8000" dirty="0" err="1"/>
              <a:t>SoA</a:t>
            </a:r>
            <a:r>
              <a:rPr lang="en-US" sz="8000" dirty="0"/>
              <a:t>)</a:t>
            </a:r>
            <a:endParaRPr lang="en-US" sz="7872" b="1" dirty="0">
              <a:solidFill>
                <a:srgbClr val="303870"/>
              </a:solidFill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808534" y="3728338"/>
            <a:ext cx="7581900" cy="4031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Access Control Policy &amp; RBAC (A.9)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Secure authentication &amp; MFA (A.9.4)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Cryptographic controls – HTTPS &amp; encryption (A.10)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Network segregation (A.13.1.3)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Information backup (A.12.3)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Event logging (A.12.4) 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Security awareness (A.7.2.2)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Information transfer controls (A.13.2) </a:t>
            </a:r>
            <a:endParaRPr lang="en-US" sz="21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8E26DE-C01C-7DB0-9EB3-D12F02D99469}"/>
              </a:ext>
            </a:extLst>
          </p:cNvPr>
          <p:cNvSpPr txBox="1"/>
          <p:nvPr/>
        </p:nvSpPr>
        <p:spPr>
          <a:xfrm>
            <a:off x="1028700" y="2526789"/>
            <a:ext cx="64928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Most Important Applicable Controls: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162EC-D8B5-4BD5-5284-520E31631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0983FA1-EAF5-93E5-2A3B-16AB2A9EFD04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BE4DCA3-9395-00BD-637B-49DDDFE37FDB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060BC42-CF85-0B28-13AD-08E894750352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2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0EEF86EB-AE19-B975-EA5C-E66AB8AA99DB}"/>
              </a:ext>
            </a:extLst>
          </p:cNvPr>
          <p:cNvSpPr txBox="1"/>
          <p:nvPr/>
        </p:nvSpPr>
        <p:spPr>
          <a:xfrm>
            <a:off x="1028700" y="1028700"/>
            <a:ext cx="150495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US" sz="8000" dirty="0"/>
              <a:t>To-Be Secure Network Architecture </a:t>
            </a:r>
            <a:endParaRPr kumimoji="0" lang="en-US" sz="7872" b="1" i="0" u="none" strike="noStrike" kern="1200" cap="none" spc="0" normalizeH="0" baseline="0" noProof="0" dirty="0">
              <a:ln>
                <a:noFill/>
              </a:ln>
              <a:solidFill>
                <a:srgbClr val="303870"/>
              </a:solidFill>
              <a:effectLst/>
              <a:uLnTx/>
              <a:uFillTx/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BEFAF8B-3410-1852-28C3-3A1073EA4D95}"/>
              </a:ext>
            </a:extLst>
          </p:cNvPr>
          <p:cNvSpPr txBox="1"/>
          <p:nvPr/>
        </p:nvSpPr>
        <p:spPr>
          <a:xfrm>
            <a:off x="5260731" y="3120356"/>
            <a:ext cx="7581900" cy="2939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Defense in Depth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Least Privilege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Network Segmentation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Secure Remote Access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Practicality for a small organization </a:t>
            </a:r>
          </a:p>
          <a:p>
            <a:pPr lvl="0">
              <a:spcAft>
                <a:spcPts val="1200"/>
              </a:spcAft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303870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61EF88-02FA-4F80-E517-086BAE6A9B71}"/>
              </a:ext>
            </a:extLst>
          </p:cNvPr>
          <p:cNvSpPr txBox="1"/>
          <p:nvPr/>
        </p:nvSpPr>
        <p:spPr>
          <a:xfrm>
            <a:off x="1028700" y="2526789"/>
            <a:ext cx="5045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200" dirty="0"/>
              <a:t>High-Level Design Principles: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88EA16D-5CD1-376B-6697-C2D68A2955FE}"/>
              </a:ext>
            </a:extLst>
          </p:cNvPr>
          <p:cNvSpPr txBox="1"/>
          <p:nvPr/>
        </p:nvSpPr>
        <p:spPr>
          <a:xfrm>
            <a:off x="3580686" y="6667604"/>
            <a:ext cx="7581900" cy="2416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Office User Zone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Server / Application Zone (Highest trust)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Remote Access Zone (Site Engineers)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External / Client Access Path </a:t>
            </a:r>
          </a:p>
          <a:p>
            <a:pPr lvl="0">
              <a:spcAft>
                <a:spcPts val="1200"/>
              </a:spcAft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303870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8CC12-252D-35F2-D9DF-31D67B970E9A}"/>
              </a:ext>
            </a:extLst>
          </p:cNvPr>
          <p:cNvSpPr txBox="1"/>
          <p:nvPr/>
        </p:nvSpPr>
        <p:spPr>
          <a:xfrm>
            <a:off x="1453662" y="6119446"/>
            <a:ext cx="23675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Main Zones: </a:t>
            </a:r>
          </a:p>
        </p:txBody>
      </p:sp>
    </p:spTree>
    <p:extLst>
      <p:ext uri="{BB962C8B-B14F-4D97-AF65-F5344CB8AC3E}">
        <p14:creationId xmlns:p14="http://schemas.microsoft.com/office/powerpoint/2010/main" val="3581957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79B03-8C9E-8BBA-30D8-B5C716C7D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CDF2825-7EB0-EA0E-D602-AEF455B5811F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5718745-C5CF-589F-3FD9-A06C92AFAAFB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9CE1900-6BDA-B9C9-054C-BE3F723047FC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2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CC36441-95E2-F1E9-DC2C-604ADC8E9FC8}"/>
              </a:ext>
            </a:extLst>
          </p:cNvPr>
          <p:cNvSpPr txBox="1"/>
          <p:nvPr/>
        </p:nvSpPr>
        <p:spPr>
          <a:xfrm>
            <a:off x="1028700" y="1028700"/>
            <a:ext cx="131445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US" sz="8000" dirty="0"/>
              <a:t>To-Be Network – Key Features </a:t>
            </a:r>
            <a:endParaRPr kumimoji="0" lang="en-US" sz="7872" b="1" i="0" u="none" strike="noStrike" kern="1200" cap="none" spc="0" normalizeH="0" baseline="0" noProof="0" dirty="0">
              <a:ln>
                <a:noFill/>
              </a:ln>
              <a:solidFill>
                <a:srgbClr val="303870"/>
              </a:solidFill>
              <a:effectLst/>
              <a:uLnTx/>
              <a:uFillTx/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0579C35-3809-4713-04D8-1859CB32E108}"/>
              </a:ext>
            </a:extLst>
          </p:cNvPr>
          <p:cNvSpPr txBox="1"/>
          <p:nvPr/>
        </p:nvSpPr>
        <p:spPr>
          <a:xfrm>
            <a:off x="4808534" y="3728338"/>
            <a:ext cx="9364666" cy="3508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Firewall as primary trust boundary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Prismo Constructions  Application + Database in protected Server Zone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Encrypted access (HTTPS) for all users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Role-Based Access Control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Multi-Factor Authentication (planned)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Centralized secure storage for photos and documents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Basic logging and backup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CB4D1-9090-52C7-3616-553390E0AC2F}"/>
              </a:ext>
            </a:extLst>
          </p:cNvPr>
          <p:cNvSpPr txBox="1"/>
          <p:nvPr/>
        </p:nvSpPr>
        <p:spPr>
          <a:xfrm>
            <a:off x="1028700" y="2526789"/>
            <a:ext cx="4129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200" dirty="0"/>
              <a:t>Core Security Features: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3396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9A806-6EFE-3B95-082A-EF8EAB436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A27EB90-71E4-AAF0-6E31-63492771ED21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7750FAC-EDE5-2A09-BF4D-007A0185C76B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A49DC53-F927-9FD8-181A-66DA97CD0751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2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0184777-5A33-0D5F-11B6-EAB91E05317D}"/>
              </a:ext>
            </a:extLst>
          </p:cNvPr>
          <p:cNvSpPr txBox="1"/>
          <p:nvPr/>
        </p:nvSpPr>
        <p:spPr>
          <a:xfrm>
            <a:off x="1028700" y="1028700"/>
            <a:ext cx="131445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Prioritized Recommendations </a:t>
            </a:r>
            <a:endParaRPr kumimoji="0" lang="en-US" sz="7872" b="1" i="0" u="none" strike="noStrike" kern="1200" cap="none" spc="0" normalizeH="0" baseline="0" noProof="0" dirty="0">
              <a:ln>
                <a:noFill/>
              </a:ln>
              <a:solidFill>
                <a:srgbClr val="303870"/>
              </a:solidFill>
              <a:effectLst/>
              <a:uLnTx/>
              <a:uFillTx/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F9107E8-6F00-923C-8678-D7D068F25D65}"/>
              </a:ext>
            </a:extLst>
          </p:cNvPr>
          <p:cNvSpPr txBox="1"/>
          <p:nvPr/>
        </p:nvSpPr>
        <p:spPr>
          <a:xfrm>
            <a:off x="6057901" y="5630664"/>
            <a:ext cx="5478466" cy="193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Firewall deployment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Endpoint protection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Basic logging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Security awareness briefing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2EA236-55C6-2D53-4D6D-2F6EA36C7F2E}"/>
              </a:ext>
            </a:extLst>
          </p:cNvPr>
          <p:cNvSpPr txBox="1"/>
          <p:nvPr/>
        </p:nvSpPr>
        <p:spPr>
          <a:xfrm>
            <a:off x="1028700" y="2526789"/>
            <a:ext cx="4391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Implementation Priority: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CFB689E-854D-2BBB-43D5-F8A562DDA525}"/>
              </a:ext>
            </a:extLst>
          </p:cNvPr>
          <p:cNvSpPr txBox="1"/>
          <p:nvPr/>
        </p:nvSpPr>
        <p:spPr>
          <a:xfrm>
            <a:off x="637468" y="5630664"/>
            <a:ext cx="5478466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Strong password policy + MFA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Role-Based Access Control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 only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Move documents &amp; photos into Prismo Constructions 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82BFA1E8-D429-99AC-11C7-370BE8517B37}"/>
              </a:ext>
            </a:extLst>
          </p:cNvPr>
          <p:cNvSpPr txBox="1"/>
          <p:nvPr/>
        </p:nvSpPr>
        <p:spPr>
          <a:xfrm>
            <a:off x="11883234" y="5630664"/>
            <a:ext cx="5478466" cy="1415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Formal backup &amp; recovery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Basic security policies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rights review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42F96C-7EE6-8171-39C2-8CD89E96E72D}"/>
              </a:ext>
            </a:extLst>
          </p:cNvPr>
          <p:cNvSpPr txBox="1"/>
          <p:nvPr/>
        </p:nvSpPr>
        <p:spPr>
          <a:xfrm>
            <a:off x="773723" y="4220308"/>
            <a:ext cx="24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Immediate (0–1 Month)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E05875-9890-B29A-90D7-3186581611D5}"/>
              </a:ext>
            </a:extLst>
          </p:cNvPr>
          <p:cNvSpPr txBox="1"/>
          <p:nvPr/>
        </p:nvSpPr>
        <p:spPr>
          <a:xfrm>
            <a:off x="6846277" y="4290646"/>
            <a:ext cx="260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Short-Term (1–3 Months)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164433-BEB6-9DBD-D120-2BAB598D84EB}"/>
              </a:ext>
            </a:extLst>
          </p:cNvPr>
          <p:cNvSpPr txBox="1"/>
          <p:nvPr/>
        </p:nvSpPr>
        <p:spPr>
          <a:xfrm>
            <a:off x="12449908" y="4548554"/>
            <a:ext cx="2896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Medium-Term (3–6 Months) </a:t>
            </a:r>
          </a:p>
        </p:txBody>
      </p:sp>
    </p:spTree>
    <p:extLst>
      <p:ext uri="{BB962C8B-B14F-4D97-AF65-F5344CB8AC3E}">
        <p14:creationId xmlns:p14="http://schemas.microsoft.com/office/powerpoint/2010/main" val="2014387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44A1A-4C24-895F-26EE-2C70ABA2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44A41CF-E72D-A770-FE2F-A39CF6F88DBC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7099EA3-333F-E818-2567-623912121CCF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0616D9E-1FB8-5788-D7B6-56CD21E74174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2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3148F46-92FA-A505-C355-021AF198DA03}"/>
              </a:ext>
            </a:extLst>
          </p:cNvPr>
          <p:cNvSpPr txBox="1"/>
          <p:nvPr/>
        </p:nvSpPr>
        <p:spPr>
          <a:xfrm>
            <a:off x="1028700" y="1028700"/>
            <a:ext cx="131445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US" sz="8000" dirty="0"/>
              <a:t>Expected Risk Reduction </a:t>
            </a:r>
            <a:endParaRPr kumimoji="0" lang="en-US" sz="7872" b="1" i="0" u="none" strike="noStrike" kern="1200" cap="none" spc="0" normalizeH="0" baseline="0" noProof="0" dirty="0">
              <a:ln>
                <a:noFill/>
              </a:ln>
              <a:solidFill>
                <a:srgbClr val="303870"/>
              </a:solidFill>
              <a:effectLst/>
              <a:uLnTx/>
              <a:uFillTx/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6D3D9A-DECB-4846-F166-477C3B0747CF}"/>
              </a:ext>
            </a:extLst>
          </p:cNvPr>
          <p:cNvSpPr txBox="1"/>
          <p:nvPr/>
        </p:nvSpPr>
        <p:spPr>
          <a:xfrm>
            <a:off x="1028700" y="2526789"/>
            <a:ext cx="82698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200" dirty="0"/>
              <a:t>After implementing the recommended controls: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5B6B5F08-04AA-667B-96CC-79C08BD58E74}"/>
              </a:ext>
            </a:extLst>
          </p:cNvPr>
          <p:cNvSpPr txBox="1"/>
          <p:nvPr/>
        </p:nvSpPr>
        <p:spPr>
          <a:xfrm>
            <a:off x="4267200" y="4353917"/>
            <a:ext cx="11277600" cy="193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Most Critical and High risks expected to reduce to Low or Low-Medium residual risk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Significant improvement in Confidentiality, Integrity, and Availability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HTTPS only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Secure foundation for Prismo Constructions operations </a:t>
            </a:r>
          </a:p>
        </p:txBody>
      </p:sp>
    </p:spTree>
    <p:extLst>
      <p:ext uri="{BB962C8B-B14F-4D97-AF65-F5344CB8AC3E}">
        <p14:creationId xmlns:p14="http://schemas.microsoft.com/office/powerpoint/2010/main" val="3826001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796F8-CBC1-0956-9747-1D2F00EAE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0C75580-859F-15A0-262B-E29AAA0F4EE7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9CD2B20-2735-374E-D925-CDC444662E4A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F6A3D8A-51EE-B45C-DEBD-CB3DCC2F9B9E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2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263FC7AA-81F5-6725-1EF2-319CD0E83AE1}"/>
              </a:ext>
            </a:extLst>
          </p:cNvPr>
          <p:cNvSpPr txBox="1"/>
          <p:nvPr/>
        </p:nvSpPr>
        <p:spPr>
          <a:xfrm>
            <a:off x="1028700" y="1028700"/>
            <a:ext cx="131445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US" sz="8000" dirty="0"/>
              <a:t>Conclusion</a:t>
            </a:r>
            <a:endParaRPr kumimoji="0" lang="en-US" sz="7872" b="1" i="0" u="none" strike="noStrike" kern="1200" cap="none" spc="0" normalizeH="0" baseline="0" noProof="0" dirty="0">
              <a:ln>
                <a:noFill/>
              </a:ln>
              <a:solidFill>
                <a:srgbClr val="303870"/>
              </a:solidFill>
              <a:effectLst/>
              <a:uLnTx/>
              <a:uFillTx/>
              <a:latin typeface="Agrandir Wide Bold"/>
              <a:ea typeface="Agrandir Wide Bold"/>
              <a:cs typeface="Agrandir Wide Bold"/>
              <a:sym typeface="Agrandir Wide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246B31-AE81-D014-D20D-A5ECDB7AA732}"/>
              </a:ext>
            </a:extLst>
          </p:cNvPr>
          <p:cNvSpPr txBox="1"/>
          <p:nvPr/>
        </p:nvSpPr>
        <p:spPr>
          <a:xfrm>
            <a:off x="1028700" y="2526789"/>
            <a:ext cx="2774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3200" dirty="0"/>
              <a:t>Key Outcomes: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59927F64-7BDE-3374-9106-95DB2A73EBA8}"/>
              </a:ext>
            </a:extLst>
          </p:cNvPr>
          <p:cNvSpPr txBox="1"/>
          <p:nvPr/>
        </p:nvSpPr>
        <p:spPr>
          <a:xfrm>
            <a:off x="4267200" y="4353917"/>
            <a:ext cx="112776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Current environment is insufficient for secure construction project management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Clear set of client-specific vulnerabilities and risks identified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ISO 27001 Toolkit effectively applied for risk treatment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Practical and scalable To-Be Secure Network Architecture designed 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Prioritized, realistic recommendations provided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898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534337"/>
            <a:ext cx="10208996" cy="181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91"/>
              </a:lnSpc>
            </a:pPr>
            <a:r>
              <a:rPr lang="en-US" sz="10343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5676387"/>
            <a:ext cx="4786930" cy="838151"/>
            <a:chOff x="0" y="0"/>
            <a:chExt cx="1260755" cy="220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0755" cy="220747"/>
            </a:xfrm>
            <a:custGeom>
              <a:avLst/>
              <a:gdLst/>
              <a:ahLst/>
              <a:cxnLst/>
              <a:rect l="l" t="t" r="r" b="b"/>
              <a:pathLst>
                <a:path w="1260755" h="220747">
                  <a:moveTo>
                    <a:pt x="110374" y="0"/>
                  </a:moveTo>
                  <a:lnTo>
                    <a:pt x="1150381" y="0"/>
                  </a:lnTo>
                  <a:cubicBezTo>
                    <a:pt x="1179654" y="0"/>
                    <a:pt x="1207728" y="11629"/>
                    <a:pt x="1228428" y="32328"/>
                  </a:cubicBezTo>
                  <a:cubicBezTo>
                    <a:pt x="1249127" y="53027"/>
                    <a:pt x="1260755" y="81101"/>
                    <a:pt x="1260755" y="110374"/>
                  </a:cubicBezTo>
                  <a:lnTo>
                    <a:pt x="1260755" y="110374"/>
                  </a:lnTo>
                  <a:cubicBezTo>
                    <a:pt x="1260755" y="139647"/>
                    <a:pt x="1249127" y="167721"/>
                    <a:pt x="1228428" y="188420"/>
                  </a:cubicBezTo>
                  <a:cubicBezTo>
                    <a:pt x="1207728" y="209119"/>
                    <a:pt x="1179654" y="220747"/>
                    <a:pt x="1150381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1260755" cy="315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29385" y="5783229"/>
            <a:ext cx="4185559" cy="557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Thanks For Watching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62025"/>
            <a:ext cx="2948357" cy="55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October 2030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699209"/>
            <a:ext cx="6680614" cy="55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Presented by Ketut Susilo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860</Words>
  <Application>Microsoft Office PowerPoint</Application>
  <PresentationFormat>Custom</PresentationFormat>
  <Paragraphs>188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Agrandir Wide Bold</vt:lpstr>
      <vt:lpstr>Nunito Bold Italics</vt:lpstr>
      <vt:lpstr>Nunito Bold</vt:lpstr>
      <vt:lpstr>Nunito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Beige Simple Project Proposal Presentation</dc:title>
  <dc:creator>Dulanjana Rathnayaka</dc:creator>
  <cp:lastModifiedBy>Rathnayaka R.M.D.D IT24103951</cp:lastModifiedBy>
  <cp:revision>2</cp:revision>
  <dcterms:created xsi:type="dcterms:W3CDTF">2006-08-16T00:00:00Z</dcterms:created>
  <dcterms:modified xsi:type="dcterms:W3CDTF">2026-10-02T15:06:30Z</dcterms:modified>
  <dc:identifier>DAHW3Ey77UU</dc:identifier>
</cp:coreProperties>
</file>